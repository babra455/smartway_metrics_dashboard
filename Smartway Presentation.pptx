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8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ra Odongo" userId="6baaaebec2678689" providerId="LiveId" clId="{F1804DA1-F300-4B68-96E8-164F8C679E75}"/>
    <pc:docChg chg="undo custSel modSld">
      <pc:chgData name="Babra Odongo" userId="6baaaebec2678689" providerId="LiveId" clId="{F1804DA1-F300-4B68-96E8-164F8C679E75}" dt="2025-11-29T06:38:32.546" v="67" actId="12"/>
      <pc:docMkLst>
        <pc:docMk/>
      </pc:docMkLst>
      <pc:sldChg chg="modSp mod">
        <pc:chgData name="Babra Odongo" userId="6baaaebec2678689" providerId="LiveId" clId="{F1804DA1-F300-4B68-96E8-164F8C679E75}" dt="2025-11-29T05:55:19.856" v="19" actId="20577"/>
        <pc:sldMkLst>
          <pc:docMk/>
          <pc:sldMk cId="2165369828" sldId="259"/>
        </pc:sldMkLst>
        <pc:spChg chg="mod">
          <ac:chgData name="Babra Odongo" userId="6baaaebec2678689" providerId="LiveId" clId="{F1804DA1-F300-4B68-96E8-164F8C679E75}" dt="2025-11-29T05:55:19.856" v="19" actId="20577"/>
          <ac:spMkLst>
            <pc:docMk/>
            <pc:sldMk cId="2165369828" sldId="259"/>
            <ac:spMk id="5" creationId="{CD958D4D-EF9F-97DA-FFE3-5C090E9D1563}"/>
          </ac:spMkLst>
        </pc:spChg>
      </pc:sldChg>
      <pc:sldChg chg="modSp mod">
        <pc:chgData name="Babra Odongo" userId="6baaaebec2678689" providerId="LiveId" clId="{F1804DA1-F300-4B68-96E8-164F8C679E75}" dt="2025-11-29T06:28:29.136" v="22" actId="20577"/>
        <pc:sldMkLst>
          <pc:docMk/>
          <pc:sldMk cId="2505853924" sldId="260"/>
        </pc:sldMkLst>
        <pc:spChg chg="mod">
          <ac:chgData name="Babra Odongo" userId="6baaaebec2678689" providerId="LiveId" clId="{F1804DA1-F300-4B68-96E8-164F8C679E75}" dt="2025-11-29T06:28:29.136" v="22" actId="20577"/>
          <ac:spMkLst>
            <pc:docMk/>
            <pc:sldMk cId="2505853924" sldId="260"/>
            <ac:spMk id="3" creationId="{6DF2A644-A4B3-17A7-B7DE-6269774E9B39}"/>
          </ac:spMkLst>
        </pc:spChg>
      </pc:sldChg>
      <pc:sldChg chg="modSp mod">
        <pc:chgData name="Babra Odongo" userId="6baaaebec2678689" providerId="LiveId" clId="{F1804DA1-F300-4B68-96E8-164F8C679E75}" dt="2025-11-29T06:30:43.848" v="49" actId="403"/>
        <pc:sldMkLst>
          <pc:docMk/>
          <pc:sldMk cId="605206968" sldId="262"/>
        </pc:sldMkLst>
        <pc:graphicFrameChg chg="mod">
          <ac:chgData name="Babra Odongo" userId="6baaaebec2678689" providerId="LiveId" clId="{F1804DA1-F300-4B68-96E8-164F8C679E75}" dt="2025-11-29T06:30:43.848" v="49" actId="403"/>
          <ac:graphicFrameMkLst>
            <pc:docMk/>
            <pc:sldMk cId="605206968" sldId="262"/>
            <ac:graphicFrameMk id="2" creationId="{17C517B7-89E9-4008-AD8B-88CA0FDDE3DE}"/>
          </ac:graphicFrameMkLst>
        </pc:graphicFrameChg>
      </pc:sldChg>
      <pc:sldChg chg="modSp mod">
        <pc:chgData name="Babra Odongo" userId="6baaaebec2678689" providerId="LiveId" clId="{F1804DA1-F300-4B68-96E8-164F8C679E75}" dt="2025-11-29T06:32:18.518" v="65" actId="20577"/>
        <pc:sldMkLst>
          <pc:docMk/>
          <pc:sldMk cId="3675731081" sldId="265"/>
        </pc:sldMkLst>
        <pc:spChg chg="mod">
          <ac:chgData name="Babra Odongo" userId="6baaaebec2678689" providerId="LiveId" clId="{F1804DA1-F300-4B68-96E8-164F8C679E75}" dt="2025-11-29T06:32:18.518" v="65" actId="20577"/>
          <ac:spMkLst>
            <pc:docMk/>
            <pc:sldMk cId="3675731081" sldId="265"/>
            <ac:spMk id="3" creationId="{0A2FBCE7-EBA6-A985-D068-E21E95754C3D}"/>
          </ac:spMkLst>
        </pc:spChg>
      </pc:sldChg>
      <pc:sldChg chg="modSp mod">
        <pc:chgData name="Babra Odongo" userId="6baaaebec2678689" providerId="LiveId" clId="{F1804DA1-F300-4B68-96E8-164F8C679E75}" dt="2025-11-29T06:38:32.546" v="67" actId="12"/>
        <pc:sldMkLst>
          <pc:docMk/>
          <pc:sldMk cId="303863035" sldId="266"/>
        </pc:sldMkLst>
        <pc:spChg chg="mod">
          <ac:chgData name="Babra Odongo" userId="6baaaebec2678689" providerId="LiveId" clId="{F1804DA1-F300-4B68-96E8-164F8C679E75}" dt="2025-11-29T06:38:32.546" v="67" actId="12"/>
          <ac:spMkLst>
            <pc:docMk/>
            <pc:sldMk cId="303863035" sldId="266"/>
            <ac:spMk id="3" creationId="{531CA55D-E907-C74C-B206-F8D06A0806D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6baaaebec2678689/Documents/Smartway%20Transaction%20Performance%20Insights.xlsb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Smartway%20Transaction%20Performance%20Insights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Smartway%20Transaction%20Performance%20Insights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Smartway%20Transaction%20Performance%20Insights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Smartway%20Transaction%20Performance%20Insights.xlsb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Smartway%20Transaction%20Performance%20Insights.xlsb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[Smartway Transaction Performance Insights.xlsb]Pivot Tables!PivotTable12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>
                <a:solidFill>
                  <a:schemeClr val="tx1"/>
                </a:solidFill>
              </a:rPr>
              <a:t>Transactions by Hour of the Day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4B18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4B18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4B18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228525411596278"/>
          <c:y val="0.17943800505033952"/>
          <c:w val="0.79604807921737053"/>
          <c:h val="0.619246801585858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Tables'!$J$2:$J$3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4B183"/>
            </a:solidFill>
            <a:ln>
              <a:noFill/>
            </a:ln>
            <a:effectLst/>
          </c:spPr>
          <c:invertIfNegative val="0"/>
          <c:cat>
            <c:strRef>
              <c:f>'Pivot Tables'!$I$4:$I$9</c:f>
              <c:strCache>
                <c:ptCount val="5"/>
                <c:pt idx="0">
                  <c:v>Early Morning</c:v>
                </c:pt>
                <c:pt idx="1">
                  <c:v>Morning</c:v>
                </c:pt>
                <c:pt idx="2">
                  <c:v>Afternoon</c:v>
                </c:pt>
                <c:pt idx="3">
                  <c:v>Evening</c:v>
                </c:pt>
                <c:pt idx="4">
                  <c:v>Night</c:v>
                </c:pt>
              </c:strCache>
            </c:strRef>
          </c:cat>
          <c:val>
            <c:numRef>
              <c:f>'Pivot Tables'!$J$4:$J$9</c:f>
              <c:numCache>
                <c:formatCode>General</c:formatCode>
                <c:ptCount val="5"/>
                <c:pt idx="0">
                  <c:v>1999</c:v>
                </c:pt>
                <c:pt idx="1">
                  <c:v>1984</c:v>
                </c:pt>
                <c:pt idx="2">
                  <c:v>1688</c:v>
                </c:pt>
                <c:pt idx="3">
                  <c:v>1306</c:v>
                </c:pt>
                <c:pt idx="4">
                  <c:v>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5C-4F7E-B799-34EFE1038BC4}"/>
            </c:ext>
          </c:extLst>
        </c:ser>
        <c:ser>
          <c:idx val="1"/>
          <c:order val="1"/>
          <c:tx>
            <c:strRef>
              <c:f>'Pivot Tables'!$K$2:$K$3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'Pivot Tables'!$I$4:$I$9</c:f>
              <c:strCache>
                <c:ptCount val="5"/>
                <c:pt idx="0">
                  <c:v>Early Morning</c:v>
                </c:pt>
                <c:pt idx="1">
                  <c:v>Morning</c:v>
                </c:pt>
                <c:pt idx="2">
                  <c:v>Afternoon</c:v>
                </c:pt>
                <c:pt idx="3">
                  <c:v>Evening</c:v>
                </c:pt>
                <c:pt idx="4">
                  <c:v>Night</c:v>
                </c:pt>
              </c:strCache>
            </c:strRef>
          </c:cat>
          <c:val>
            <c:numRef>
              <c:f>'Pivot Tables'!$K$4:$K$9</c:f>
              <c:numCache>
                <c:formatCode>General</c:formatCode>
                <c:ptCount val="5"/>
                <c:pt idx="0">
                  <c:v>8023</c:v>
                </c:pt>
                <c:pt idx="1">
                  <c:v>7984</c:v>
                </c:pt>
                <c:pt idx="2">
                  <c:v>6632</c:v>
                </c:pt>
                <c:pt idx="3">
                  <c:v>5339</c:v>
                </c:pt>
                <c:pt idx="4">
                  <c:v>4053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5C-4F7E-B799-34EFE1038B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64686063"/>
        <c:axId val="118144304"/>
      </c:barChart>
      <c:catAx>
        <c:axId val="1164686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144304"/>
        <c:crosses val="autoZero"/>
        <c:auto val="1"/>
        <c:lblAlgn val="ctr"/>
        <c:lblOffset val="100"/>
        <c:noMultiLvlLbl val="0"/>
      </c:catAx>
      <c:valAx>
        <c:axId val="118144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4686063"/>
        <c:crosses val="autoZero"/>
        <c:crossBetween val="between"/>
      </c:valAx>
      <c:spPr>
        <a:solidFill>
          <a:schemeClr val="bg1"/>
        </a:solidFill>
      </c:spPr>
    </c:plotArea>
    <c:legend>
      <c:legendPos val="t"/>
      <c:overlay val="0"/>
      <c:txPr>
        <a:bodyPr/>
        <a:lstStyle/>
        <a:p>
          <a:pPr>
            <a:defRPr sz="2800"/>
          </a:pPr>
          <a:endParaRPr lang="en-US"/>
        </a:p>
      </c:txPr>
    </c:legend>
    <c:plotVisOnly val="1"/>
    <c:dispBlanksAs val="gap"/>
    <c:showDLblsOverMax val="0"/>
    <c:extLst/>
  </c:chart>
  <c:spPr>
    <a:noFill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[Smartway Transaction Performance Insights.xlsb]Pivot Tables!PivotTable8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>
                <a:solidFill>
                  <a:schemeClr val="tx1"/>
                </a:solidFill>
              </a:rPr>
              <a:t>Transaction Status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757021751591396"/>
          <c:y val="0.18217688424547018"/>
          <c:w val="0.79080726081806141"/>
          <c:h val="0.631426801872421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Tables'!$A$4:$A$6</c:f>
              <c:strCache>
                <c:ptCount val="2"/>
                <c:pt idx="0">
                  <c:v>Success</c:v>
                </c:pt>
                <c:pt idx="1">
                  <c:v>Failed</c:v>
                </c:pt>
              </c:strCache>
            </c:strRef>
          </c:cat>
          <c:val>
            <c:numRef>
              <c:f>'Pivot Tables'!$B$4:$B$6</c:f>
              <c:numCache>
                <c:formatCode>General</c:formatCode>
                <c:ptCount val="2"/>
                <c:pt idx="0">
                  <c:v>32031</c:v>
                </c:pt>
                <c:pt idx="1">
                  <c:v>7969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36-4D19-8E66-07976B332E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4"/>
        <c:axId val="708322159"/>
        <c:axId val="708316879"/>
      </c:barChart>
      <c:catAx>
        <c:axId val="708322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8316879"/>
        <c:crosses val="autoZero"/>
        <c:auto val="1"/>
        <c:lblAlgn val="ctr"/>
        <c:lblOffset val="100"/>
        <c:noMultiLvlLbl val="0"/>
      </c:catAx>
      <c:valAx>
        <c:axId val="7083168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8322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[Smartway Transaction Performance Insights.xlsb]Pivot Tables!PivotTable11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600" b="1" dirty="0">
                <a:solidFill>
                  <a:schemeClr val="tx1"/>
                </a:solidFill>
              </a:rPr>
              <a:t>Device</a:t>
            </a:r>
            <a:r>
              <a:rPr lang="en-US" sz="3600" b="1" baseline="0" dirty="0">
                <a:solidFill>
                  <a:schemeClr val="tx1"/>
                </a:solidFill>
              </a:rPr>
              <a:t> Performance</a:t>
            </a:r>
            <a:endParaRPr lang="en-US" sz="36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Tables'!$E$2:$E$3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Tables'!$D$4:$D$6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'Pivot Tables'!$E$4:$E$6</c:f>
              <c:numCache>
                <c:formatCode>General</c:formatCode>
                <c:ptCount val="2"/>
                <c:pt idx="0">
                  <c:v>3990</c:v>
                </c:pt>
                <c:pt idx="1">
                  <c:v>3979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89-4F6F-BD76-EE35ABE548A2}"/>
            </c:ext>
          </c:extLst>
        </c:ser>
        <c:ser>
          <c:idx val="1"/>
          <c:order val="1"/>
          <c:tx>
            <c:strRef>
              <c:f>'Pivot Tables'!$F$2:$F$3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Tables'!$D$4:$D$6</c:f>
              <c:strCache>
                <c:ptCount val="2"/>
                <c:pt idx="0">
                  <c:v>Desktop</c:v>
                </c:pt>
                <c:pt idx="1">
                  <c:v>Mobile</c:v>
                </c:pt>
              </c:strCache>
            </c:strRef>
          </c:cat>
          <c:val>
            <c:numRef>
              <c:f>'Pivot Tables'!$F$4:$F$6</c:f>
              <c:numCache>
                <c:formatCode>General</c:formatCode>
                <c:ptCount val="2"/>
                <c:pt idx="0">
                  <c:v>15985</c:v>
                </c:pt>
                <c:pt idx="1">
                  <c:v>16046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89-4F6F-BD76-EE35ABE548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155450911"/>
        <c:axId val="1155451391"/>
      </c:barChart>
      <c:catAx>
        <c:axId val="1155450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5451391"/>
        <c:crosses val="autoZero"/>
        <c:auto val="1"/>
        <c:lblAlgn val="ctr"/>
        <c:lblOffset val="100"/>
        <c:noMultiLvlLbl val="0"/>
      </c:catAx>
      <c:valAx>
        <c:axId val="11554513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5450911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[Smartway Transaction Performance Insights.xlsb]Pivot Tables!PivotTable9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>
                <a:solidFill>
                  <a:schemeClr val="tx1"/>
                </a:solidFill>
              </a:rPr>
              <a:t>Fraud Detection Effectiveness</a:t>
            </a:r>
          </a:p>
          <a:p>
            <a:pPr>
              <a:defRPr sz="3200"/>
            </a:pPr>
            <a:endParaRPr lang="en-US" sz="3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</c:pivotFmt>
      <c:pivotFmt>
        <c:idx val="8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3078466201825781"/>
          <c:y val="0.15168118445241671"/>
          <c:w val="0.74115697659004753"/>
          <c:h val="0.742967917058495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Tables'!$B$9:$B$10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Tables'!$A$11:$A$13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'Pivot Tables'!$B$11:$B$13</c:f>
              <c:numCache>
                <c:formatCode>General</c:formatCode>
                <c:ptCount val="2"/>
                <c:pt idx="0">
                  <c:v>7572</c:v>
                </c:pt>
                <c:pt idx="1">
                  <c:v>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DA-4878-A773-943D2FD90C3E}"/>
            </c:ext>
          </c:extLst>
        </c:ser>
        <c:ser>
          <c:idx val="1"/>
          <c:order val="1"/>
          <c:tx>
            <c:strRef>
              <c:f>'Pivot Tables'!$C$9:$C$10</c:f>
              <c:strCache>
                <c:ptCount val="1"/>
                <c:pt idx="0">
                  <c:v>Success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Tables'!$A$11:$A$13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'Pivot Tables'!$C$11:$C$13</c:f>
              <c:numCache>
                <c:formatCode>General</c:formatCode>
                <c:ptCount val="2"/>
                <c:pt idx="0">
                  <c:v>30387</c:v>
                </c:pt>
                <c:pt idx="1">
                  <c:v>1644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DA-4878-A773-943D2FD90C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154506431"/>
        <c:axId val="117978960"/>
      </c:barChart>
      <c:catAx>
        <c:axId val="1154506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978960"/>
        <c:crosses val="autoZero"/>
        <c:auto val="1"/>
        <c:lblAlgn val="ctr"/>
        <c:lblOffset val="100"/>
        <c:noMultiLvlLbl val="0"/>
      </c:catAx>
      <c:valAx>
        <c:axId val="117978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4506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[Smartway Transaction Performance Insights.xlsb]Pivot Tables!PivotTable13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>
                <a:solidFill>
                  <a:schemeClr val="tx1"/>
                </a:solidFill>
              </a:rPr>
              <a:t>Geolocation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lumMod val="75000"/>
            </a:schemeClr>
          </a:soli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circle"/>
          <c:size val="6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circle"/>
          <c:size val="6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>
              <a:lumMod val="75000"/>
            </a:schemeClr>
          </a:soli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>
              <a:lumMod val="75000"/>
            </a:schemeClr>
          </a:soli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7141263953045658E-2"/>
          <c:y val="0.10827998433917849"/>
          <c:w val="0.89932429017617987"/>
          <c:h val="0.648752074755573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Tables'!$P$2:$P$3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multiLvlStrRef>
              <c:f>'Pivot Tables'!$O$4:$O$15</c:f>
              <c:multiLvlStrCache>
                <c:ptCount val="6"/>
                <c:lvl>
                  <c:pt idx="0">
                    <c:v>34.0522 N</c:v>
                  </c:pt>
                  <c:pt idx="1">
                    <c:v>40.7128 N</c:v>
                  </c:pt>
                  <c:pt idx="2">
                    <c:v>51.5074 N</c:v>
                  </c:pt>
                  <c:pt idx="3">
                    <c:v>55.7558 N</c:v>
                  </c:pt>
                  <c:pt idx="4">
                    <c:v>48.8566 N</c:v>
                  </c:pt>
                  <c:pt idx="5">
                    <c:v>35.6895 N</c:v>
                  </c:pt>
                </c:lvl>
                <c:lvl>
                  <c:pt idx="0">
                    <c:v> -74.006 W</c:v>
                  </c:pt>
                  <c:pt idx="2">
                    <c:v> 0.1278 W</c:v>
                  </c:pt>
                  <c:pt idx="3">
                    <c:v> 37.6173 W</c:v>
                  </c:pt>
                  <c:pt idx="4">
                    <c:v> 2.3522 W</c:v>
                  </c:pt>
                  <c:pt idx="5">
                    <c:v> -118.2437 W</c:v>
                  </c:pt>
                </c:lvl>
              </c:multiLvlStrCache>
            </c:multiLvlStrRef>
          </c:cat>
          <c:val>
            <c:numRef>
              <c:f>'Pivot Tables'!$P$4:$P$15</c:f>
              <c:numCache>
                <c:formatCode>General</c:formatCode>
                <c:ptCount val="6"/>
                <c:pt idx="0">
                  <c:v>1296</c:v>
                </c:pt>
                <c:pt idx="1">
                  <c:v>1339</c:v>
                </c:pt>
                <c:pt idx="2">
                  <c:v>1287</c:v>
                </c:pt>
                <c:pt idx="3">
                  <c:v>1336</c:v>
                </c:pt>
                <c:pt idx="4">
                  <c:v>1336</c:v>
                </c:pt>
                <c:pt idx="5">
                  <c:v>1375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33-4850-ACD8-C33D18D99BFA}"/>
            </c:ext>
          </c:extLst>
        </c:ser>
        <c:ser>
          <c:idx val="1"/>
          <c:order val="1"/>
          <c:tx>
            <c:strRef>
              <c:f>'Pivot Tables'!$Q$2:$Q$3</c:f>
              <c:strCache>
                <c:ptCount val="1"/>
                <c:pt idx="0">
                  <c:v>Success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cat>
            <c:multiLvlStrRef>
              <c:f>'Pivot Tables'!$O$4:$O$15</c:f>
              <c:multiLvlStrCache>
                <c:ptCount val="6"/>
                <c:lvl>
                  <c:pt idx="0">
                    <c:v>34.0522 N</c:v>
                  </c:pt>
                  <c:pt idx="1">
                    <c:v>40.7128 N</c:v>
                  </c:pt>
                  <c:pt idx="2">
                    <c:v>51.5074 N</c:v>
                  </c:pt>
                  <c:pt idx="3">
                    <c:v>55.7558 N</c:v>
                  </c:pt>
                  <c:pt idx="4">
                    <c:v>48.8566 N</c:v>
                  </c:pt>
                  <c:pt idx="5">
                    <c:v>35.6895 N</c:v>
                  </c:pt>
                </c:lvl>
                <c:lvl>
                  <c:pt idx="0">
                    <c:v> -74.006 W</c:v>
                  </c:pt>
                  <c:pt idx="2">
                    <c:v> 0.1278 W</c:v>
                  </c:pt>
                  <c:pt idx="3">
                    <c:v> 37.6173 W</c:v>
                  </c:pt>
                  <c:pt idx="4">
                    <c:v> 2.3522 W</c:v>
                  </c:pt>
                  <c:pt idx="5">
                    <c:v> -118.2437 W</c:v>
                  </c:pt>
                </c:lvl>
              </c:multiLvlStrCache>
            </c:multiLvlStrRef>
          </c:cat>
          <c:val>
            <c:numRef>
              <c:f>'Pivot Tables'!$Q$4:$Q$15</c:f>
              <c:numCache>
                <c:formatCode>General</c:formatCode>
                <c:ptCount val="6"/>
                <c:pt idx="0">
                  <c:v>5422</c:v>
                </c:pt>
                <c:pt idx="1">
                  <c:v>5216</c:v>
                </c:pt>
                <c:pt idx="2">
                  <c:v>5397</c:v>
                </c:pt>
                <c:pt idx="3">
                  <c:v>5351</c:v>
                </c:pt>
                <c:pt idx="4">
                  <c:v>5338</c:v>
                </c:pt>
                <c:pt idx="5">
                  <c:v>5307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33-4850-ACD8-C33D18D99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708319279"/>
        <c:axId val="708307279"/>
      </c:barChart>
      <c:catAx>
        <c:axId val="708319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8307279"/>
        <c:crosses val="autoZero"/>
        <c:auto val="1"/>
        <c:lblAlgn val="ctr"/>
        <c:lblOffset val="100"/>
        <c:noMultiLvlLbl val="0"/>
      </c:catAx>
      <c:valAx>
        <c:axId val="708307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8319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[Smartway Transaction Performance Insights.xlsb]Pivot Tables!PivotTable10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200" dirty="0">
                <a:solidFill>
                  <a:schemeClr val="tx1"/>
                </a:solidFill>
              </a:rPr>
              <a:t>Network Slice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178527531859179"/>
          <c:y val="0.1235844070337791"/>
          <c:w val="0.7408512251351278"/>
          <c:h val="0.7604357646834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Tables'!$B$16:$B$18</c:f>
              <c:strCache>
                <c:ptCount val="1"/>
                <c:pt idx="0">
                  <c:v>Failed - Count of Transaction ID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'Pivot Tables'!$A$19:$A$22</c:f>
              <c:strCache>
                <c:ptCount val="3"/>
                <c:pt idx="0">
                  <c:v>Slice2</c:v>
                </c:pt>
                <c:pt idx="1">
                  <c:v>Slice1</c:v>
                </c:pt>
                <c:pt idx="2">
                  <c:v>Slice3</c:v>
                </c:pt>
              </c:strCache>
            </c:strRef>
          </c:cat>
          <c:val>
            <c:numRef>
              <c:f>'Pivot Tables'!$B$19:$B$22</c:f>
              <c:numCache>
                <c:formatCode>General</c:formatCode>
                <c:ptCount val="3"/>
                <c:pt idx="0">
                  <c:v>2647</c:v>
                </c:pt>
                <c:pt idx="1">
                  <c:v>2683</c:v>
                </c:pt>
                <c:pt idx="2">
                  <c:v>2639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CB-4B31-B7FB-02BB592D7E1E}"/>
            </c:ext>
          </c:extLst>
        </c:ser>
        <c:ser>
          <c:idx val="1"/>
          <c:order val="1"/>
          <c:tx>
            <c:strRef>
              <c:f>'Pivot Tables'!$C$16:$C$18</c:f>
              <c:strCache>
                <c:ptCount val="1"/>
                <c:pt idx="0">
                  <c:v>Failed - Average of Slice Bandwidth (Mbps)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'Pivot Tables'!$A$19:$A$22</c:f>
              <c:strCache>
                <c:ptCount val="3"/>
                <c:pt idx="0">
                  <c:v>Slice2</c:v>
                </c:pt>
                <c:pt idx="1">
                  <c:v>Slice1</c:v>
                </c:pt>
                <c:pt idx="2">
                  <c:v>Slice3</c:v>
                </c:pt>
              </c:strCache>
            </c:strRef>
          </c:cat>
          <c:val>
            <c:numRef>
              <c:f>'Pivot Tables'!$C$19:$C$22</c:f>
              <c:numCache>
                <c:formatCode>General</c:formatCode>
                <c:ptCount val="3"/>
                <c:pt idx="0">
                  <c:v>1541.0154892330941</c:v>
                </c:pt>
                <c:pt idx="1">
                  <c:v>1533.9631010063363</c:v>
                </c:pt>
                <c:pt idx="2">
                  <c:v>1514.285335354301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CB-4B31-B7FB-02BB592D7E1E}"/>
            </c:ext>
          </c:extLst>
        </c:ser>
        <c:ser>
          <c:idx val="2"/>
          <c:order val="2"/>
          <c:tx>
            <c:strRef>
              <c:f>'Pivot Tables'!$D$16:$D$18</c:f>
              <c:strCache>
                <c:ptCount val="1"/>
                <c:pt idx="0">
                  <c:v>Failed - Average of Latency (ms)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'Pivot Tables'!$A$19:$A$22</c:f>
              <c:strCache>
                <c:ptCount val="3"/>
                <c:pt idx="0">
                  <c:v>Slice2</c:v>
                </c:pt>
                <c:pt idx="1">
                  <c:v>Slice1</c:v>
                </c:pt>
                <c:pt idx="2">
                  <c:v>Slice3</c:v>
                </c:pt>
              </c:strCache>
            </c:strRef>
          </c:cat>
          <c:val>
            <c:numRef>
              <c:f>'Pivot Tables'!$D$19:$D$22</c:f>
              <c:numCache>
                <c:formatCode>General</c:formatCode>
                <c:ptCount val="3"/>
                <c:pt idx="0">
                  <c:v>76.116358141292025</c:v>
                </c:pt>
                <c:pt idx="1">
                  <c:v>76.58963846440551</c:v>
                </c:pt>
                <c:pt idx="2">
                  <c:v>77.561576354679801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CB-4B31-B7FB-02BB592D7E1E}"/>
            </c:ext>
          </c:extLst>
        </c:ser>
        <c:ser>
          <c:idx val="3"/>
          <c:order val="3"/>
          <c:tx>
            <c:strRef>
              <c:f>'Pivot Tables'!$E$16:$E$18</c:f>
              <c:strCache>
                <c:ptCount val="1"/>
                <c:pt idx="0">
                  <c:v>Success - Count of Transaction ID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'Pivot Tables'!$A$19:$A$22</c:f>
              <c:strCache>
                <c:ptCount val="3"/>
                <c:pt idx="0">
                  <c:v>Slice2</c:v>
                </c:pt>
                <c:pt idx="1">
                  <c:v>Slice1</c:v>
                </c:pt>
                <c:pt idx="2">
                  <c:v>Slice3</c:v>
                </c:pt>
              </c:strCache>
            </c:strRef>
          </c:cat>
          <c:val>
            <c:numRef>
              <c:f>'Pivot Tables'!$E$19:$E$22</c:f>
              <c:numCache>
                <c:formatCode>General</c:formatCode>
                <c:ptCount val="3"/>
                <c:pt idx="0">
                  <c:v>10742</c:v>
                </c:pt>
                <c:pt idx="1">
                  <c:v>10655</c:v>
                </c:pt>
                <c:pt idx="2">
                  <c:v>10634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BCB-4B31-B7FB-02BB592D7E1E}"/>
            </c:ext>
          </c:extLst>
        </c:ser>
        <c:ser>
          <c:idx val="4"/>
          <c:order val="4"/>
          <c:tx>
            <c:strRef>
              <c:f>'Pivot Tables'!$F$16:$F$18</c:f>
              <c:strCache>
                <c:ptCount val="1"/>
                <c:pt idx="0">
                  <c:v>Success - Average of Slice Bandwidth (Mbps)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'Pivot Tables'!$A$19:$A$22</c:f>
              <c:strCache>
                <c:ptCount val="3"/>
                <c:pt idx="0">
                  <c:v>Slice2</c:v>
                </c:pt>
                <c:pt idx="1">
                  <c:v>Slice1</c:v>
                </c:pt>
                <c:pt idx="2">
                  <c:v>Slice3</c:v>
                </c:pt>
              </c:strCache>
            </c:strRef>
          </c:cat>
          <c:val>
            <c:numRef>
              <c:f>'Pivot Tables'!$F$19:$F$22</c:f>
              <c:numCache>
                <c:formatCode>General</c:formatCode>
                <c:ptCount val="3"/>
                <c:pt idx="0">
                  <c:v>1521.5607894246882</c:v>
                </c:pt>
                <c:pt idx="1">
                  <c:v>1524.5814171750351</c:v>
                </c:pt>
                <c:pt idx="2">
                  <c:v>1536.2322738386308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CB-4B31-B7FB-02BB592D7E1E}"/>
            </c:ext>
          </c:extLst>
        </c:ser>
        <c:ser>
          <c:idx val="5"/>
          <c:order val="5"/>
          <c:tx>
            <c:strRef>
              <c:f>'Pivot Tables'!$G$16:$G$18</c:f>
              <c:strCache>
                <c:ptCount val="1"/>
                <c:pt idx="0">
                  <c:v>Success - Average of Latency (ms)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9800000"/>
              </a:lightRig>
            </a:scene3d>
            <a:sp3d prstMaterial="flat">
              <a:bevelT w="25400" h="31750"/>
            </a:sp3d>
          </c:spPr>
          <c:invertIfNegative val="0"/>
          <c:cat>
            <c:strRef>
              <c:f>'Pivot Tables'!$A$19:$A$22</c:f>
              <c:strCache>
                <c:ptCount val="3"/>
                <c:pt idx="0">
                  <c:v>Slice2</c:v>
                </c:pt>
                <c:pt idx="1">
                  <c:v>Slice1</c:v>
                </c:pt>
                <c:pt idx="2">
                  <c:v>Slice3</c:v>
                </c:pt>
              </c:strCache>
            </c:strRef>
          </c:cat>
          <c:val>
            <c:numRef>
              <c:f>'Pivot Tables'!$G$19:$G$22</c:f>
              <c:numCache>
                <c:formatCode>General</c:formatCode>
                <c:ptCount val="3"/>
                <c:pt idx="0">
                  <c:v>77.541705455222498</c:v>
                </c:pt>
                <c:pt idx="1">
                  <c:v>76.292069450961989</c:v>
                </c:pt>
                <c:pt idx="2">
                  <c:v>76.39326687981945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BCB-4B31-B7FB-02BB592D7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69351135"/>
        <c:axId val="1175061967"/>
      </c:barChart>
      <c:catAx>
        <c:axId val="1169351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5061967"/>
        <c:crosses val="autoZero"/>
        <c:auto val="1"/>
        <c:lblAlgn val="ctr"/>
        <c:lblOffset val="100"/>
        <c:noMultiLvlLbl val="0"/>
      </c:catAx>
      <c:valAx>
        <c:axId val="1175061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9351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6.3665301650293179E-3"/>
          <c:y val="1.1843812031996224E-2"/>
          <c:w val="0.15206900115575081"/>
          <c:h val="0.93188553403319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3CA03-AE40-4DB4-95A7-7D31B4AF526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75FCA-2048-4202-8078-43F24B513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4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75FCA-2048-4202-8078-43F24B513D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3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84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04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3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47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17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60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46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94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66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22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E4D15A-7E63-4C49-8DE1-E1CF3F060C3E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03E3959-CB26-4426-AEF9-E03A0A0A646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0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8B4F99E-C8CB-206D-22AD-F2C0CBAF7158}"/>
              </a:ext>
            </a:extLst>
          </p:cNvPr>
          <p:cNvSpPr txBox="1"/>
          <p:nvPr/>
        </p:nvSpPr>
        <p:spPr>
          <a:xfrm>
            <a:off x="326571" y="4481428"/>
            <a:ext cx="62252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Prepared By:</a:t>
            </a:r>
            <a:br>
              <a:rPr lang="en-US" sz="4000" dirty="0"/>
            </a:br>
            <a:r>
              <a:rPr lang="en-US" sz="4000" dirty="0"/>
              <a:t>Babra Odongo</a:t>
            </a:r>
          </a:p>
          <a:p>
            <a:r>
              <a:rPr lang="en-US" sz="4000" dirty="0"/>
              <a:t>Data Analyst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51D749-08E0-2899-716A-64B0326A4AE2}"/>
              </a:ext>
            </a:extLst>
          </p:cNvPr>
          <p:cNvSpPr txBox="1"/>
          <p:nvPr/>
        </p:nvSpPr>
        <p:spPr>
          <a:xfrm>
            <a:off x="0" y="252914"/>
            <a:ext cx="120341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/>
              <a:t>SMARTWAY METRICS DASHBOARD</a:t>
            </a:r>
          </a:p>
        </p:txBody>
      </p:sp>
      <p:pic>
        <p:nvPicPr>
          <p:cNvPr id="20" name="Picture 19" descr="Antique cash register keys">
            <a:extLst>
              <a:ext uri="{FF2B5EF4-FFF2-40B4-BE49-F238E27FC236}">
                <a16:creationId xmlns:a16="http://schemas.microsoft.com/office/drawing/2014/main" id="{47EC024B-08EF-9934-B3B4-D9E54E462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757" y="3935186"/>
            <a:ext cx="4501243" cy="238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1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9CCD-3C32-5463-BA07-914EEC1F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71" y="286603"/>
            <a:ext cx="10943409" cy="1450757"/>
          </a:xfrm>
        </p:spPr>
        <p:txBody>
          <a:bodyPr>
            <a:normAutofit/>
          </a:bodyPr>
          <a:lstStyle/>
          <a:p>
            <a:r>
              <a:rPr lang="en-US" sz="5400" b="1" dirty="0"/>
              <a:t>Problem Summary </a:t>
            </a:r>
            <a:endParaRPr lang="en-US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9EAD0F-1E54-610F-7901-D6FBA384EA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1966141"/>
            <a:ext cx="12192001" cy="406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</a:t>
            </a:r>
            <a:r>
              <a:rPr lang="en-US" sz="2800" dirty="0"/>
              <a:t>Many legitimate transactions are being rejected, and it’s unclear if this is due to bank errors or network issues like slow connections and timeouts.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  Fraud detection is not fully effective in real-time, as flagged transactions still go through and sometimes result in chargebacks.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  The ROI of 5G network slicing is uncertain, since it’s unclear if premium slices reduce failures, improve latency, or enhance user experience.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  It’s unclear whether to prioritize mobile or desktop development, as we lack evidence on which platform drives more failures, complaints, or lost conversions.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6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DAE092-3BB5-3A41-041D-70F0F50B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86603"/>
            <a:ext cx="10927081" cy="1450757"/>
          </a:xfrm>
        </p:spPr>
        <p:txBody>
          <a:bodyPr>
            <a:normAutofit/>
          </a:bodyPr>
          <a:lstStyle/>
          <a:p>
            <a:r>
              <a:rPr lang="en-US" sz="5400" b="1" dirty="0"/>
              <a:t>Objective of the Analysis</a:t>
            </a:r>
            <a:r>
              <a:rPr lang="en-US" sz="5400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1A3D76-42AF-5C3A-11F7-21FC90308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7360"/>
            <a:ext cx="12191999" cy="454914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600" dirty="0"/>
              <a:t> </a:t>
            </a:r>
            <a:r>
              <a:rPr lang="en-US" sz="4200" dirty="0"/>
              <a:t>Assess real-time fraud detection and blocking, measuring effectiveness and any latency between flagging and prevention.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200" dirty="0"/>
              <a:t> Evaluate the performance of Network Slice 1 and 2 compared to baseline networks on key metrics (latency, success rate, throughput) and analyze cost versus benefit.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200" dirty="0"/>
              <a:t> Recommend which platform Mobile or Desktop should be prioritized for fixes, specifying the most critical features and user flows.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200" dirty="0"/>
              <a:t> Identify whether transaction rejections are due to banking errors or network issues, supported by evidence and confidence levels.</a:t>
            </a:r>
          </a:p>
        </p:txBody>
      </p:sp>
    </p:spTree>
    <p:extLst>
      <p:ext uri="{BB962C8B-B14F-4D97-AF65-F5344CB8AC3E}">
        <p14:creationId xmlns:p14="http://schemas.microsoft.com/office/powerpoint/2010/main" val="344649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61BB25-8F08-B7A5-1937-D8E96A99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604"/>
            <a:ext cx="11155680" cy="938040"/>
          </a:xfrm>
        </p:spPr>
        <p:txBody>
          <a:bodyPr>
            <a:normAutofit/>
          </a:bodyPr>
          <a:lstStyle/>
          <a:p>
            <a:r>
              <a:rPr lang="en-US" sz="5400" b="1" dirty="0"/>
              <a:t>Dataset Overview</a:t>
            </a:r>
            <a:endParaRPr lang="en-US" sz="5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958D4D-EF9F-97DA-FFE3-5C090E9D1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79814"/>
            <a:ext cx="12191999" cy="450668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dirty="0"/>
              <a:t>The primary analysis </a:t>
            </a:r>
            <a:r>
              <a:rPr lang="en-US" sz="3200" dirty="0"/>
              <a:t>is based on one  main dataset (the Data sheet).It has 14 columns and 40,000 rows.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lang="en-US" sz="3200" b="1" dirty="0"/>
              <a:t>Key columns include </a:t>
            </a:r>
            <a:r>
              <a:rPr lang="en-US" sz="3200" dirty="0"/>
              <a:t>; Transaction ID, Transaction Type, Transaction Status, Fraud Flag, Device Used, Network Slice ID, Time Range, Month, Date, and Transaction Amount.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/>
              <a:t>Dataset cleaning : </a:t>
            </a:r>
            <a:r>
              <a:rPr lang="en-US" sz="3200" dirty="0">
                <a:solidFill>
                  <a:schemeClr val="tx1"/>
                </a:solidFill>
              </a:rPr>
              <a:t>split the timestamp and geolocation columns to separate the date, time, latitude, and longitude, making the data easier to analyze , added an hour column and grouped it into time ranges like Morning and Evening, and I also extracted the month to identify monthly transaction patterns.</a:t>
            </a:r>
          </a:p>
        </p:txBody>
      </p:sp>
    </p:spTree>
    <p:extLst>
      <p:ext uri="{BB962C8B-B14F-4D97-AF65-F5344CB8AC3E}">
        <p14:creationId xmlns:p14="http://schemas.microsoft.com/office/powerpoint/2010/main" val="216536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5FE2-77CE-A371-2B9E-C16FCB0E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433957" cy="1450757"/>
          </a:xfrm>
        </p:spPr>
        <p:txBody>
          <a:bodyPr/>
          <a:lstStyle/>
          <a:p>
            <a:r>
              <a:rPr lang="en-US" b="1" dirty="0"/>
              <a:t> </a:t>
            </a:r>
            <a:r>
              <a:rPr lang="en-US" sz="6600" b="1" dirty="0"/>
              <a:t>Key Metrics (KPIs)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A644-A4B3-17A7-B7DE-6269774E9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14284"/>
            <a:ext cx="6362701" cy="4154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Total Transactions - </a:t>
            </a:r>
            <a:r>
              <a:rPr lang="en-US" sz="3200" i="1" dirty="0"/>
              <a:t>40,000</a:t>
            </a:r>
          </a:p>
          <a:p>
            <a:r>
              <a:rPr lang="en-US" sz="3200" b="1" dirty="0"/>
              <a:t>Average Transaction Value</a:t>
            </a:r>
            <a:r>
              <a:rPr lang="en-US" sz="3200" dirty="0"/>
              <a:t> – </a:t>
            </a:r>
            <a:r>
              <a:rPr lang="en-US" sz="3200" i="1" dirty="0"/>
              <a:t>2495</a:t>
            </a:r>
          </a:p>
          <a:p>
            <a:r>
              <a:rPr lang="en-US" sz="3200" b="1" dirty="0"/>
              <a:t>Total Successful Transactions </a:t>
            </a:r>
            <a:r>
              <a:rPr lang="en-US" sz="3200" dirty="0"/>
              <a:t>– </a:t>
            </a:r>
            <a:r>
              <a:rPr lang="en-US" sz="3200" i="1" dirty="0"/>
              <a:t>32031</a:t>
            </a:r>
          </a:p>
        </p:txBody>
      </p:sp>
      <p:pic>
        <p:nvPicPr>
          <p:cNvPr id="7" name="Picture 6" descr="Stopwatch">
            <a:extLst>
              <a:ext uri="{FF2B5EF4-FFF2-40B4-BE49-F238E27FC236}">
                <a16:creationId xmlns:a16="http://schemas.microsoft.com/office/drawing/2014/main" id="{AA6FF5BC-7869-F688-5BD7-9E27BD4CD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1" y="0"/>
            <a:ext cx="5829299" cy="635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5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FD858BA-01F7-4ADB-8FAE-7D1AB94997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5430496"/>
              </p:ext>
            </p:extLst>
          </p:nvPr>
        </p:nvGraphicFramePr>
        <p:xfrm>
          <a:off x="473528" y="457199"/>
          <a:ext cx="11185071" cy="5339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615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066E7FC-4B81-4B55-8686-3EBA13282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8407024"/>
              </p:ext>
            </p:extLst>
          </p:nvPr>
        </p:nvGraphicFramePr>
        <p:xfrm>
          <a:off x="604157" y="408213"/>
          <a:ext cx="9078686" cy="4767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700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7C517B7-89E9-4008-AD8B-88CA0FDDE3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755733"/>
              </p:ext>
            </p:extLst>
          </p:nvPr>
        </p:nvGraphicFramePr>
        <p:xfrm>
          <a:off x="718457" y="538843"/>
          <a:ext cx="10744200" cy="5061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520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9FF65CC-82B2-4733-BE2B-64CEB87D56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0169820"/>
              </p:ext>
            </p:extLst>
          </p:nvPr>
        </p:nvGraphicFramePr>
        <p:xfrm>
          <a:off x="898070" y="751114"/>
          <a:ext cx="10254343" cy="5470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943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E24ACEE-D0B8-4B12-9E5A-09C1889653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4984224"/>
              </p:ext>
            </p:extLst>
          </p:nvPr>
        </p:nvGraphicFramePr>
        <p:xfrm>
          <a:off x="244929" y="620486"/>
          <a:ext cx="11250385" cy="5110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497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E445C0-01E6-48A9-B62F-65191EB39A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473838"/>
              </p:ext>
            </p:extLst>
          </p:nvPr>
        </p:nvGraphicFramePr>
        <p:xfrm>
          <a:off x="0" y="571499"/>
          <a:ext cx="11968843" cy="5698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6010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7F6B-EFA8-338C-9AC3-0540BDED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FBCE7-EBA6-A985-D068-E21E95754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5734"/>
            <a:ext cx="12192000" cy="4326466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The number of successful transactions is generally higher than failed transactions.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 Mobile have the highest number of transactions and also the most successful ones.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The transactions that were falsely flagged show a higher number of failed transactions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 Transactions by hour show that early morning (0–5) has the highest number of both successes and failures, while late night (21–23) has the lowest.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 In network slice performance, Slice 2 records the most successful transactions, while Slice 1 has the highest number of failures.</a:t>
            </a:r>
          </a:p>
        </p:txBody>
      </p:sp>
    </p:spTree>
    <p:extLst>
      <p:ext uri="{BB962C8B-B14F-4D97-AF65-F5344CB8AC3E}">
        <p14:creationId xmlns:p14="http://schemas.microsoft.com/office/powerpoint/2010/main" val="3675731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FD14-154D-2B35-4BCE-D4760089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A55D-E907-C74C-B206-F8D06A080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7361"/>
            <a:ext cx="12192000" cy="46960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Focus on improving the mobile app first since it handles the most transactions and has the highest success rates, making desktop a secondary priority.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Review and adjust fraud system rules to reduce false positives so that valid transactions are not blocked, while still keeping security strong.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Reassess Slice 1 configuration and usage to reduce failures, and monitor Slice 2 to ensure it continues delivering high success rates. Consider reallocating traffic or upgrading infrastructure based on performance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Schedule all system maintenance and updates during early morning hours  to minimize user disruption.</a:t>
            </a:r>
          </a:p>
        </p:txBody>
      </p:sp>
    </p:spTree>
    <p:extLst>
      <p:ext uri="{BB962C8B-B14F-4D97-AF65-F5344CB8AC3E}">
        <p14:creationId xmlns:p14="http://schemas.microsoft.com/office/powerpoint/2010/main" val="303863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C6FC-3ECC-3006-2C95-BC610BD2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837" y="188632"/>
            <a:ext cx="10058400" cy="1450757"/>
          </a:xfrm>
        </p:spPr>
        <p:txBody>
          <a:bodyPr>
            <a:normAutofit/>
          </a:bodyPr>
          <a:lstStyle/>
          <a:p>
            <a:r>
              <a:rPr lang="en-US" sz="6000" b="1" dirty="0"/>
              <a:t>Conclusion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7D3E68-824F-2D29-2C0B-6986DC074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79814"/>
            <a:ext cx="6335486" cy="398027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4ECEAD-4BAD-AAF9-842F-7EE26C37C2EB}"/>
              </a:ext>
            </a:extLst>
          </p:cNvPr>
          <p:cNvSpPr txBox="1"/>
          <p:nvPr/>
        </p:nvSpPr>
        <p:spPr>
          <a:xfrm>
            <a:off x="6335487" y="1900148"/>
            <a:ext cx="58565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This dashboard gives a clear view of our payment system’s performance, highlighting key pressure points and trends.</a:t>
            </a:r>
            <a:br>
              <a:rPr lang="en-US" sz="2800" dirty="0"/>
            </a:br>
            <a:r>
              <a:rPr lang="en-US" sz="2800" dirty="0"/>
              <a:t>By tracking transactions and success rates in real time, we can improve efficiency and strengthen system reliability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7336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1875</TotalTime>
  <Words>609</Words>
  <Application>Microsoft Office PowerPoint</Application>
  <PresentationFormat>Widescreen</PresentationFormat>
  <Paragraphs>41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Retrospect</vt:lpstr>
      <vt:lpstr>PowerPoint Presentation</vt:lpstr>
      <vt:lpstr>Problem Summary </vt:lpstr>
      <vt:lpstr>Objective of the Analysis </vt:lpstr>
      <vt:lpstr>Dataset Overview</vt:lpstr>
      <vt:lpstr> Key Metrics (KPIs)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Findings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Babra Odongo</dc:creator>
  <cp:lastModifiedBy>Babra Odongo</cp:lastModifiedBy>
  <cp:revision>6</cp:revision>
  <dcterms:created xsi:type="dcterms:W3CDTF">2025-11-27T17:06:35Z</dcterms:created>
  <dcterms:modified xsi:type="dcterms:W3CDTF">2025-11-29T06:39:26Z</dcterms:modified>
</cp:coreProperties>
</file>